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833" r:id="rId2"/>
  </p:sldMasterIdLst>
  <p:sldIdLst>
    <p:sldId id="256" r:id="rId3"/>
    <p:sldId id="257" r:id="rId4"/>
    <p:sldId id="258" r:id="rId5"/>
    <p:sldId id="259" r:id="rId6"/>
    <p:sldId id="266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521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692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947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092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15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0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31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970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80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77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296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6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302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360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464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38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70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20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8360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4631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305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52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0481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39012-B34E-46EA-A90B-E8231D9E66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CE504-6274-46BE-AA58-4C984F6F25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91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6000">
              <a:schemeClr val="bg1"/>
            </a:gs>
            <a:gs pos="55000">
              <a:schemeClr val="accent1">
                <a:lumMod val="45000"/>
                <a:lumOff val="5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0342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Muhammad Hasnain</a:t>
            </a:r>
            <a:br>
              <a:rPr lang="en-US" sz="4400" b="1" dirty="0" smtClean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Data Analyst/Data Engineer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6911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Computer Science Graduate – </a:t>
            </a:r>
            <a:r>
              <a:rPr lang="en-US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UBIT</a:t>
            </a:r>
            <a:r>
              <a:rPr lang="en-US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(Dec 2025)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Skilled in SQL, Python, Excel, Power BI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Experience in Data Cleaning, ETL , Data Modelling &amp; Dashboards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Currently Learning </a:t>
            </a:r>
            <a:r>
              <a:rPr lang="en-US" sz="2000" b="1" i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Cloud Data Engineering </a:t>
            </a:r>
            <a:r>
              <a:rPr lang="en-US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(SMIT)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60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cs typeface="Segoe UI" panose="020B0502040204020203" pitchFamily="34" charset="0"/>
              </a:rPr>
              <a:t>Los Angeles Crime Analytics Dashboard</a:t>
            </a:r>
            <a:endParaRPr lang="en-US" b="1" u="sng" dirty="0"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20413"/>
            <a:ext cx="10515600" cy="37952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2400"/>
              </a:spcAft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analyzes crime data in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Angeles.</a:t>
            </a:r>
          </a:p>
          <a:p>
            <a:pPr>
              <a:lnSpc>
                <a:spcPct val="100000"/>
              </a:lnSpc>
              <a:spcAft>
                <a:spcPts val="2400"/>
              </a:spcAft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Identifies patterns based on time, location, crime type, and severity.</a:t>
            </a:r>
          </a:p>
          <a:p>
            <a:pPr>
              <a:lnSpc>
                <a:spcPct val="100000"/>
              </a:lnSpc>
              <a:spcAft>
                <a:spcPts val="2400"/>
              </a:spcAft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Converts raw crime data into meaningful insights.</a:t>
            </a:r>
          </a:p>
          <a:p>
            <a:pPr>
              <a:lnSpc>
                <a:spcPct val="100000"/>
              </a:lnSpc>
              <a:spcAft>
                <a:spcPts val="2400"/>
              </a:spcAft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in understanding public safety trends for better decision making.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1920" y="156753"/>
            <a:ext cx="11956869" cy="6566263"/>
          </a:xfrm>
          <a:prstGeom prst="rect">
            <a:avLst/>
          </a:prstGeom>
          <a:noFill/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4069"/>
            <a:ext cx="10515600" cy="1072379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Rising Crime &amp; Data Gaps</a:t>
            </a:r>
            <a:endParaRPr lang="en-US" u="sng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73829"/>
            <a:ext cx="10515600" cy="2046514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Law enforcement agencies in Los Angeles face rising crime rates year over year. They lack visibility into high-crime areas, peak timing, and whether cases are being resolved. Without a dashboard, they cannot allocate patrol resources effectively. This leads to delayed response and increased public safety risks.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1920" y="156753"/>
            <a:ext cx="11956869" cy="6566263"/>
          </a:xfrm>
          <a:prstGeom prst="rect">
            <a:avLst/>
          </a:prstGeom>
          <a:noFill/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75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869" y="746125"/>
            <a:ext cx="10515600" cy="1059815"/>
          </a:xfrm>
        </p:spPr>
        <p:txBody>
          <a:bodyPr/>
          <a:lstStyle/>
          <a:p>
            <a:pPr algn="ctr"/>
            <a:r>
              <a:rPr lang="en-US" b="1" u="sng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Dataset Overview</a:t>
            </a:r>
            <a:endParaRPr lang="en-US" b="1" u="sng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104" y="2147842"/>
            <a:ext cx="10515600" cy="336141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Crime dataset of Los Angeles from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2015 to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Contains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detailed records of each crime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incident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Includes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date, time, area, crime type, and victim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Also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includes weapon usage, location (latitude/longitude), and case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Used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analyze crime trends, patterns, and severity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1" y="156753"/>
            <a:ext cx="11791406" cy="6566263"/>
          </a:xfrm>
          <a:prstGeom prst="rect">
            <a:avLst/>
          </a:prstGeom>
          <a:noFill/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042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15" y="365577"/>
            <a:ext cx="11260137" cy="6148614"/>
          </a:xfrm>
        </p:spPr>
      </p:pic>
      <p:sp>
        <p:nvSpPr>
          <p:cNvPr id="4" name="Rectangle 3"/>
          <p:cNvSpPr/>
          <p:nvPr/>
        </p:nvSpPr>
        <p:spPr>
          <a:xfrm>
            <a:off x="182881" y="156753"/>
            <a:ext cx="11791406" cy="6566263"/>
          </a:xfrm>
          <a:prstGeom prst="rect">
            <a:avLst/>
          </a:prstGeom>
          <a:noFill/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189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3527" y="261256"/>
            <a:ext cx="7940040" cy="618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Data Cleaning &amp; Preparation</a:t>
            </a:r>
            <a:endParaRPr lang="en-US" b="1" u="sng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96" y="2307771"/>
            <a:ext cx="4227890" cy="2838996"/>
          </a:xfrm>
          <a:ln>
            <a:solidFill>
              <a:schemeClr val="tx2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132807" y="156753"/>
            <a:ext cx="11841480" cy="6566263"/>
          </a:xfrm>
          <a:prstGeom prst="rect">
            <a:avLst/>
          </a:prstGeom>
          <a:noFill/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738" y="2307771"/>
            <a:ext cx="6407210" cy="2838996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7" name="Right Arrow 16"/>
          <p:cNvSpPr/>
          <p:nvPr/>
        </p:nvSpPr>
        <p:spPr>
          <a:xfrm>
            <a:off x="4728755" y="3056709"/>
            <a:ext cx="629315" cy="484632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1195" y="1112911"/>
            <a:ext cx="11403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Performed multiple data cleaning and transformation steps to ensure data quality. Below is one example from the Victim Age column.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0635" y="1787285"/>
            <a:ext cx="309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Invalid Age Values (≤ 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6867" y="1787285"/>
            <a:ext cx="400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Cleaned Data (Unknown Replaced)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194" y="5692280"/>
            <a:ext cx="11334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Conclusion</a:t>
            </a:r>
            <a:r>
              <a:rPr lang="en-US" dirty="0" smtClean="0"/>
              <a:t>: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Identified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unrealistic values and handled them appropriately to improve data consistency and ensure accurate analysis.</a:t>
            </a:r>
          </a:p>
        </p:txBody>
      </p:sp>
    </p:spTree>
    <p:extLst>
      <p:ext uri="{BB962C8B-B14F-4D97-AF65-F5344CB8AC3E}">
        <p14:creationId xmlns:p14="http://schemas.microsoft.com/office/powerpoint/2010/main" val="156180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474" y="225788"/>
            <a:ext cx="10515600" cy="61023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Crime Overview Dashboard</a:t>
            </a:r>
            <a:endParaRPr lang="en-US" b="1" u="sng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74" y="836023"/>
            <a:ext cx="10247812" cy="5529946"/>
          </a:xfrm>
        </p:spPr>
      </p:pic>
      <p:sp>
        <p:nvSpPr>
          <p:cNvPr id="4" name="Rectangle 3"/>
          <p:cNvSpPr/>
          <p:nvPr/>
        </p:nvSpPr>
        <p:spPr>
          <a:xfrm>
            <a:off x="132807" y="156753"/>
            <a:ext cx="11841480" cy="6566263"/>
          </a:xfrm>
          <a:prstGeom prst="rect">
            <a:avLst/>
          </a:prstGeom>
          <a:noFill/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Elbow Connector 25"/>
          <p:cNvCxnSpPr/>
          <p:nvPr/>
        </p:nvCxnSpPr>
        <p:spPr>
          <a:xfrm flipV="1">
            <a:off x="8412480" y="3791492"/>
            <a:ext cx="2107473" cy="209005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924800" y="3847012"/>
            <a:ext cx="487680" cy="2307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683034" y="2547254"/>
            <a:ext cx="2669177" cy="400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045027" y="4859382"/>
            <a:ext cx="3309259" cy="274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Elbow Connector 46"/>
          <p:cNvCxnSpPr/>
          <p:nvPr/>
        </p:nvCxnSpPr>
        <p:spPr>
          <a:xfrm>
            <a:off x="4362995" y="4927964"/>
            <a:ext cx="6087291" cy="313508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924800" y="2469965"/>
            <a:ext cx="487680" cy="2209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8412480" y="2547254"/>
            <a:ext cx="2107473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flipV="1">
            <a:off x="7352211" y="1463040"/>
            <a:ext cx="3167742" cy="1227905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0519953" y="836023"/>
            <a:ext cx="1385175" cy="83099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200" b="1" i="1" dirty="0"/>
              <a:t>Southwest</a:t>
            </a:r>
            <a:r>
              <a:rPr lang="en-US" sz="1200" i="1" dirty="0"/>
              <a:t> records the highest crime volume at </a:t>
            </a:r>
            <a:r>
              <a:rPr lang="en-US" sz="1200" b="1" i="1" dirty="0"/>
              <a:t>70K</a:t>
            </a:r>
            <a:r>
              <a:rPr lang="en-US" sz="1200" i="1" dirty="0"/>
              <a:t> incidents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9953" y="2131755"/>
            <a:ext cx="1385175" cy="83099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200" b="1" i="1" dirty="0"/>
              <a:t>Afternoon</a:t>
            </a:r>
            <a:r>
              <a:rPr lang="en-US" sz="1200" i="1" dirty="0"/>
              <a:t> accounts for the most </a:t>
            </a:r>
            <a:r>
              <a:rPr lang="en-US" sz="1200" i="1" dirty="0" smtClean="0"/>
              <a:t>crimes</a:t>
            </a:r>
            <a:r>
              <a:rPr lang="en-US" sz="1200" b="1" i="1" dirty="0"/>
              <a:t>: 350K </a:t>
            </a:r>
            <a:r>
              <a:rPr lang="en-US" sz="1200" i="1" dirty="0"/>
              <a:t>occurrences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9953" y="3378251"/>
            <a:ext cx="1385175" cy="101566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200" b="1" i="1" dirty="0"/>
              <a:t>Residential </a:t>
            </a:r>
            <a:r>
              <a:rPr lang="en-US" sz="1200" i="1" dirty="0"/>
              <a:t>premises lead with </a:t>
            </a:r>
            <a:r>
              <a:rPr lang="en-US" sz="1200" b="1" i="1" dirty="0"/>
              <a:t>380K </a:t>
            </a:r>
            <a:r>
              <a:rPr lang="en-US" sz="1200" i="1" dirty="0"/>
              <a:t>crimes – highest risk location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9699" y="4847226"/>
            <a:ext cx="1385175" cy="64633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Theft &amp; auto theft </a:t>
            </a:r>
            <a:r>
              <a:rPr lang="en-US" sz="1200" dirty="0"/>
              <a:t>is the top category: </a:t>
            </a:r>
            <a:r>
              <a:rPr lang="en-US" sz="1200" b="1" dirty="0"/>
              <a:t>590K</a:t>
            </a:r>
            <a:r>
              <a:rPr lang="en-US" sz="1200" dirty="0"/>
              <a:t> cases</a:t>
            </a:r>
            <a:endParaRPr lang="en-US" sz="1200" i="1" dirty="0"/>
          </a:p>
        </p:txBody>
      </p:sp>
      <p:sp>
        <p:nvSpPr>
          <p:cNvPr id="69" name="Oval 68"/>
          <p:cNvSpPr/>
          <p:nvPr/>
        </p:nvSpPr>
        <p:spPr>
          <a:xfrm>
            <a:off x="2699656" y="2469965"/>
            <a:ext cx="393168" cy="4778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9754561" y="279429"/>
            <a:ext cx="1591620" cy="46166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Peak crime year: </a:t>
            </a:r>
            <a:r>
              <a:rPr lang="en-US" sz="1200" b="1" dirty="0"/>
              <a:t>2017</a:t>
            </a:r>
            <a:r>
              <a:rPr lang="en-US" sz="1200" dirty="0"/>
              <a:t> with </a:t>
            </a:r>
            <a:r>
              <a:rPr lang="en-US" sz="1200" b="1" dirty="0"/>
              <a:t>232K</a:t>
            </a:r>
            <a:r>
              <a:rPr lang="en-US" sz="1200" dirty="0"/>
              <a:t> incidents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00477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70" y="86451"/>
            <a:ext cx="11891555" cy="610235"/>
          </a:xfrm>
        </p:spPr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Crime Detailed Dashboard</a:t>
            </a:r>
            <a:endParaRPr lang="en-US" b="1" u="sng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" y="801629"/>
            <a:ext cx="10439400" cy="5859580"/>
          </a:xfrm>
        </p:spPr>
      </p:pic>
      <p:sp>
        <p:nvSpPr>
          <p:cNvPr id="5" name="Rounded Rectangle 4"/>
          <p:cNvSpPr/>
          <p:nvPr/>
        </p:nvSpPr>
        <p:spPr>
          <a:xfrm>
            <a:off x="217714" y="4014651"/>
            <a:ext cx="4249783" cy="72281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467497" y="4171406"/>
            <a:ext cx="6226629" cy="609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657114" y="3106710"/>
            <a:ext cx="1332412" cy="181588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400" i="1" dirty="0"/>
              <a:t>Crime peaks on weekend </a:t>
            </a:r>
            <a:r>
              <a:rPr lang="en-US" sz="1400" b="1" i="1" dirty="0"/>
              <a:t>afternoons (12 PM – 8 PM), </a:t>
            </a:r>
            <a:r>
              <a:rPr lang="en-US" sz="1400" i="1" dirty="0"/>
              <a:t>with </a:t>
            </a:r>
            <a:r>
              <a:rPr lang="en-US" sz="1400" b="1" i="1" dirty="0"/>
              <a:t>Fridays</a:t>
            </a:r>
            <a:r>
              <a:rPr lang="en-US" sz="1400" i="1" dirty="0"/>
              <a:t> and </a:t>
            </a:r>
            <a:r>
              <a:rPr lang="en-US" sz="1400" b="1" i="1" dirty="0"/>
              <a:t>Saturdays </a:t>
            </a:r>
            <a:r>
              <a:rPr lang="en-US" sz="1400" i="1" dirty="0"/>
              <a:t>showing the highest volume.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970" y="86451"/>
            <a:ext cx="11928567" cy="6636565"/>
          </a:xfrm>
          <a:prstGeom prst="rect">
            <a:avLst/>
          </a:prstGeom>
          <a:noFill/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22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3843"/>
            <a:ext cx="10515600" cy="624431"/>
          </a:xfrm>
        </p:spPr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Key Insights for Law Enforcement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423" y="995364"/>
            <a:ext cx="11669486" cy="56579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❓</a:t>
            </a:r>
            <a:r>
              <a:rPr lang="en-US" sz="2400" b="1" dirty="0" smtClean="0">
                <a:latin typeface="Arial Rounded MT Bold" panose="020F0704030504030204" pitchFamily="34" charset="0"/>
              </a:rPr>
              <a:t> </a:t>
            </a:r>
            <a:r>
              <a:rPr lang="en-US" sz="2400" b="1" dirty="0">
                <a:latin typeface="Arial Rounded MT Bold" panose="020F0704030504030204" pitchFamily="34" charset="0"/>
              </a:rPr>
              <a:t>Where and when should patrol resources be concentrated</a:t>
            </a:r>
            <a:r>
              <a:rPr lang="en-US" sz="2400" b="1" dirty="0" smtClean="0">
                <a:latin typeface="Arial Rounded MT Bold" panose="020F0704030504030204" pitchFamily="34" charset="0"/>
              </a:rPr>
              <a:t>?</a:t>
            </a:r>
            <a:endParaRPr lang="en-US" sz="24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Southwest area</a:t>
            </a:r>
            <a:r>
              <a:rPr lang="en-US" sz="1600" i="1" dirty="0"/>
              <a:t> – highest crime volume </a:t>
            </a:r>
            <a:r>
              <a:rPr lang="en-US" sz="1600" i="1" dirty="0" smtClean="0"/>
              <a:t>(</a:t>
            </a:r>
            <a:r>
              <a:rPr lang="en-US" sz="1600" i="1" dirty="0" smtClean="0">
                <a:solidFill>
                  <a:schemeClr val="accent2"/>
                </a:solidFill>
              </a:rPr>
              <a:t>70K</a:t>
            </a:r>
            <a:r>
              <a:rPr lang="en-US" sz="1600" i="1" dirty="0" smtClean="0"/>
              <a:t> </a:t>
            </a:r>
            <a:r>
              <a:rPr lang="en-US" sz="1600" i="1" dirty="0"/>
              <a:t>incidents) – deploy additional units.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Afternoon (12 PM – 6 PM)</a:t>
            </a:r>
            <a:r>
              <a:rPr lang="en-US" sz="1600" i="1" dirty="0"/>
              <a:t> – peak crime window (</a:t>
            </a:r>
            <a:r>
              <a:rPr lang="en-US" sz="1600" i="1" dirty="0">
                <a:solidFill>
                  <a:schemeClr val="accent2"/>
                </a:solidFill>
              </a:rPr>
              <a:t>350K</a:t>
            </a:r>
            <a:r>
              <a:rPr lang="en-US" sz="1600" i="1" dirty="0"/>
              <a:t> occurrences) – increase daytime patrols.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Weekend afternoons (Friday &amp; Saturday, 12 PM – 8 PM)</a:t>
            </a:r>
            <a:r>
              <a:rPr lang="en-US" sz="1600" i="1" dirty="0">
                <a:solidFill>
                  <a:schemeClr val="accent2"/>
                </a:solidFill>
              </a:rPr>
              <a:t> </a:t>
            </a:r>
            <a:r>
              <a:rPr lang="en-US" sz="1600" i="1" dirty="0"/>
              <a:t>– highest density – prioritize weekend shifts</a:t>
            </a:r>
            <a:r>
              <a:rPr lang="en-US" sz="1600" i="1" dirty="0" smtClean="0"/>
              <a:t>.</a:t>
            </a:r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❓</a:t>
            </a:r>
            <a:r>
              <a:rPr lang="en-US" sz="2400" b="1" dirty="0" smtClean="0">
                <a:latin typeface="Arial Rounded MT Bold" panose="020F0704030504030204" pitchFamily="34" charset="0"/>
              </a:rPr>
              <a:t>Which </a:t>
            </a:r>
            <a:r>
              <a:rPr lang="en-US" sz="2400" b="1" dirty="0">
                <a:latin typeface="Arial Rounded MT Bold" panose="020F0704030504030204" pitchFamily="34" charset="0"/>
              </a:rPr>
              <a:t>crime types and locations pose the greatest threat to public safety</a:t>
            </a:r>
            <a:r>
              <a:rPr lang="en-US" sz="2400" b="1" dirty="0" smtClean="0">
                <a:latin typeface="Arial Rounded MT Bold" panose="020F0704030504030204" pitchFamily="34" charset="0"/>
              </a:rPr>
              <a:t>?</a:t>
            </a:r>
            <a:endParaRPr lang="en-US" dirty="0"/>
          </a:p>
          <a:p>
            <a:pPr marL="0" indent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Theft &amp; Auto Theft</a:t>
            </a:r>
            <a:r>
              <a:rPr lang="en-US" sz="1600" i="1" dirty="0">
                <a:solidFill>
                  <a:schemeClr val="accent2"/>
                </a:solidFill>
              </a:rPr>
              <a:t> </a:t>
            </a:r>
            <a:r>
              <a:rPr lang="en-US" sz="1600" i="1" dirty="0"/>
              <a:t>– #1 category (</a:t>
            </a:r>
            <a:r>
              <a:rPr lang="en-US" sz="1600" i="1" dirty="0">
                <a:solidFill>
                  <a:schemeClr val="accent2"/>
                </a:solidFill>
              </a:rPr>
              <a:t>590K</a:t>
            </a:r>
            <a:r>
              <a:rPr lang="en-US" sz="1600" i="1" dirty="0"/>
              <a:t> cases) – launch targeted prevention campaigns.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Residential premises</a:t>
            </a:r>
            <a:r>
              <a:rPr lang="en-US" sz="1600" i="1" dirty="0"/>
              <a:t> – </a:t>
            </a:r>
            <a:r>
              <a:rPr lang="en-US" sz="1600" i="1" dirty="0">
                <a:solidFill>
                  <a:schemeClr val="accent2"/>
                </a:solidFill>
              </a:rPr>
              <a:t>380K</a:t>
            </a:r>
            <a:r>
              <a:rPr lang="en-US" sz="1600" i="1" dirty="0"/>
              <a:t> crimes – highest risk for residents; recommend neighborhood watch and security lighting.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Weapon involvement</a:t>
            </a:r>
            <a:r>
              <a:rPr lang="en-US" sz="1600" i="1" dirty="0">
                <a:solidFill>
                  <a:schemeClr val="accent2"/>
                </a:solidFill>
              </a:rPr>
              <a:t> (22% of crimes) </a:t>
            </a:r>
            <a:r>
              <a:rPr lang="en-US" sz="1600" i="1" dirty="0"/>
              <a:t>– elevates threat level – fast response protocols needed</a:t>
            </a:r>
            <a:r>
              <a:rPr lang="en-US" sz="1600" i="1" dirty="0" smtClean="0"/>
              <a:t>.</a:t>
            </a:r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r>
              <a:rPr lang="en-US" sz="26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❓</a:t>
            </a:r>
            <a:r>
              <a:rPr lang="en-US" sz="2600" b="1" dirty="0" smtClean="0">
                <a:latin typeface="Arial Rounded MT Bold" panose="020F0704030504030204" pitchFamily="34" charset="0"/>
              </a:rPr>
              <a:t>Are </a:t>
            </a:r>
            <a:r>
              <a:rPr lang="en-US" sz="2600" b="1" dirty="0">
                <a:latin typeface="Arial Rounded MT Bold" panose="020F0704030504030204" pitchFamily="34" charset="0"/>
              </a:rPr>
              <a:t>crimes being resolved effectively, and is the trend improving</a:t>
            </a:r>
            <a:r>
              <a:rPr lang="en-US" sz="2600" b="1" dirty="0" smtClean="0">
                <a:latin typeface="Arial Rounded MT Bold" panose="020F0704030504030204" pitchFamily="34" charset="0"/>
              </a:rPr>
              <a:t>?</a:t>
            </a:r>
            <a:endParaRPr lang="en-US" sz="26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1700" b="1" i="1" dirty="0">
                <a:solidFill>
                  <a:schemeClr val="accent2"/>
                </a:solidFill>
              </a:rPr>
              <a:t>Unresolved crimes</a:t>
            </a:r>
            <a:r>
              <a:rPr lang="en-US" sz="1700" b="1" i="1" dirty="0" smtClean="0">
                <a:solidFill>
                  <a:schemeClr val="accent2"/>
                </a:solidFill>
              </a:rPr>
              <a:t>:</a:t>
            </a:r>
            <a:r>
              <a:rPr lang="en-US" sz="1700" i="1" dirty="0"/>
              <a:t> </a:t>
            </a:r>
            <a:r>
              <a:rPr lang="en-US" sz="1700" i="1" dirty="0" smtClean="0"/>
              <a:t>(</a:t>
            </a:r>
            <a:r>
              <a:rPr lang="en-US" sz="1700" i="1" dirty="0" smtClean="0">
                <a:solidFill>
                  <a:schemeClr val="accent2"/>
                </a:solidFill>
              </a:rPr>
              <a:t>76%</a:t>
            </a:r>
            <a:r>
              <a:rPr lang="en-US" sz="1700" i="1" dirty="0" smtClean="0"/>
              <a:t> of </a:t>
            </a:r>
            <a:r>
              <a:rPr lang="en-US" sz="1700" i="1" dirty="0"/>
              <a:t>total) – major backlog; strong need for more investigative </a:t>
            </a:r>
            <a:r>
              <a:rPr lang="en-US" sz="1700" i="1" dirty="0" smtClean="0"/>
              <a:t>resources.</a:t>
            </a:r>
          </a:p>
          <a:p>
            <a:pPr marL="0" indent="0">
              <a:buNone/>
            </a:pPr>
            <a:r>
              <a:rPr lang="en-US" sz="1700" b="1" i="1" dirty="0">
                <a:solidFill>
                  <a:schemeClr val="accent2"/>
                </a:solidFill>
              </a:rPr>
              <a:t>R</a:t>
            </a:r>
            <a:r>
              <a:rPr lang="en-US" sz="1700" b="1" i="1" dirty="0" smtClean="0">
                <a:solidFill>
                  <a:schemeClr val="accent2"/>
                </a:solidFill>
              </a:rPr>
              <a:t>esolved </a:t>
            </a:r>
            <a:r>
              <a:rPr lang="en-US" sz="1700" b="1" i="1" dirty="0">
                <a:solidFill>
                  <a:schemeClr val="accent2"/>
                </a:solidFill>
              </a:rPr>
              <a:t>crimes</a:t>
            </a:r>
            <a:r>
              <a:rPr lang="en-US" sz="1700" b="1" i="1" dirty="0" smtClean="0">
                <a:solidFill>
                  <a:schemeClr val="accent2"/>
                </a:solidFill>
              </a:rPr>
              <a:t>: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chemeClr val="accent2"/>
                </a:solidFill>
              </a:rPr>
              <a:t>22%</a:t>
            </a:r>
            <a:r>
              <a:rPr lang="en-US" sz="1800" dirty="0">
                <a:solidFill>
                  <a:schemeClr val="accent2"/>
                </a:solidFill>
              </a:rPr>
              <a:t> </a:t>
            </a:r>
            <a:r>
              <a:rPr lang="en-US" sz="1800" dirty="0"/>
              <a:t>– </a:t>
            </a:r>
            <a:r>
              <a:rPr lang="en-US" sz="1700" i="1" dirty="0">
                <a:cs typeface="Arial" panose="020B0604020202020204" pitchFamily="34" charset="0"/>
              </a:rPr>
              <a:t>relatively low resolution rate.</a:t>
            </a:r>
          </a:p>
          <a:p>
            <a:pPr marL="0" indent="0">
              <a:buNone/>
            </a:pPr>
            <a:r>
              <a:rPr lang="en-US" sz="1700" b="1" i="1" dirty="0">
                <a:solidFill>
                  <a:schemeClr val="accent2"/>
                </a:solidFill>
              </a:rPr>
              <a:t>Crime peaked in 2017 (232K)</a:t>
            </a:r>
            <a:r>
              <a:rPr lang="en-US" sz="1700" i="1" dirty="0"/>
              <a:t> and declined to </a:t>
            </a:r>
            <a:r>
              <a:rPr lang="en-US" sz="1700" i="1" dirty="0">
                <a:solidFill>
                  <a:schemeClr val="accent2"/>
                </a:solidFill>
              </a:rPr>
              <a:t>219K</a:t>
            </a:r>
            <a:r>
              <a:rPr lang="en-US" sz="1700" i="1" dirty="0"/>
              <a:t> in 2019 – positive trend, but still elevated.</a:t>
            </a:r>
          </a:p>
          <a:p>
            <a:pPr marL="0" indent="0">
              <a:buNone/>
            </a:pPr>
            <a:r>
              <a:rPr lang="en-US" sz="1700" b="1" i="1" dirty="0">
                <a:solidFill>
                  <a:schemeClr val="accent2"/>
                </a:solidFill>
              </a:rPr>
              <a:t>Serious crimes: 225K</a:t>
            </a:r>
            <a:r>
              <a:rPr lang="en-US" sz="1700" i="1" dirty="0"/>
              <a:t> – nearly half of all incidents; prioritize unresolved serious cases for detective units.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5" name="Rectangle 4"/>
          <p:cNvSpPr/>
          <p:nvPr/>
        </p:nvSpPr>
        <p:spPr>
          <a:xfrm>
            <a:off x="132807" y="156753"/>
            <a:ext cx="11841480" cy="6566263"/>
          </a:xfrm>
          <a:prstGeom prst="rect">
            <a:avLst/>
          </a:prstGeom>
          <a:noFill/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55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5788"/>
            <a:ext cx="10515600" cy="706029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Data Validation Using SQL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51" y="1806078"/>
            <a:ext cx="4167515" cy="1446256"/>
          </a:xfrm>
        </p:spPr>
      </p:pic>
      <p:sp>
        <p:nvSpPr>
          <p:cNvPr id="4" name="Rectangle 3"/>
          <p:cNvSpPr/>
          <p:nvPr/>
        </p:nvSpPr>
        <p:spPr>
          <a:xfrm>
            <a:off x="132807" y="156753"/>
            <a:ext cx="11841480" cy="6566263"/>
          </a:xfrm>
          <a:prstGeom prst="rect">
            <a:avLst/>
          </a:prstGeom>
          <a:noFill/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51" y="3405051"/>
            <a:ext cx="4167515" cy="3074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010" y="1806078"/>
            <a:ext cx="2850138" cy="4673253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806" y="1806078"/>
            <a:ext cx="4188823" cy="13812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805" y="3252334"/>
            <a:ext cx="4188823" cy="16311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9651" y="1284029"/>
            <a:ext cx="1152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Arial Rounded MT Bold" panose="020F0704030504030204" pitchFamily="34" charset="0"/>
              </a:rPr>
              <a:t>Purpose of </a:t>
            </a:r>
            <a:r>
              <a:rPr lang="en-US" sz="2000" b="1" u="sng" dirty="0" smtClean="0">
                <a:latin typeface="Arial Rounded MT Bold" panose="020F0704030504030204" pitchFamily="34" charset="0"/>
              </a:rPr>
              <a:t>Validation </a:t>
            </a:r>
            <a:r>
              <a:rPr lang="en-US" sz="2000" b="1" dirty="0" smtClean="0">
                <a:latin typeface="Arial Rounded MT Bold" panose="020F0704030504030204" pitchFamily="34" charset="0"/>
              </a:rPr>
              <a:t>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Cross-checked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between raw and cleaned data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070" y="4942191"/>
            <a:ext cx="4167557" cy="1537140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8646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646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Behind every data point is a real-world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incident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Patterns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in data help reveal where attention is needed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most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Clear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insights support smarter and more informed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decisions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Project Resources</a:t>
            </a:r>
          </a:p>
          <a:p>
            <a:pPr marL="0" indent="0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Complete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project and materials available on GitHub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Thank you for your time and consideration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appreciate the opportunity and look forward to your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807" y="156753"/>
            <a:ext cx="11841480" cy="6566263"/>
          </a:xfrm>
          <a:prstGeom prst="rect">
            <a:avLst/>
          </a:prstGeom>
          <a:noFill/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58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1131</TotalTime>
  <Words>635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Rounded MT Bold</vt:lpstr>
      <vt:lpstr>Calibri</vt:lpstr>
      <vt:lpstr>Calibri Light</vt:lpstr>
      <vt:lpstr>Segoe UI</vt:lpstr>
      <vt:lpstr>Wingdings</vt:lpstr>
      <vt:lpstr>Office Theme</vt:lpstr>
      <vt:lpstr>1_Office Theme</vt:lpstr>
      <vt:lpstr>Muhammad Hasnain Data Analyst/Data Engineer</vt:lpstr>
      <vt:lpstr>Los Angeles Crime Analytics Dashboard</vt:lpstr>
      <vt:lpstr>Rising Crime &amp; Data Gaps</vt:lpstr>
      <vt:lpstr>Dataset Overview</vt:lpstr>
      <vt:lpstr>PowerPoint Presentation</vt:lpstr>
      <vt:lpstr>Data Cleaning &amp; Preparation</vt:lpstr>
      <vt:lpstr>Crime Overview Dashboard</vt:lpstr>
      <vt:lpstr>Crime Detailed Dashboard</vt:lpstr>
      <vt:lpstr>Key Insights for Law Enforcement</vt:lpstr>
      <vt:lpstr>Data Validation Using SQL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Muhammad Hasnain Data Analyst/Data Engineer</dc:title>
  <dc:creator>dell</dc:creator>
  <cp:lastModifiedBy>dell</cp:lastModifiedBy>
  <cp:revision>34</cp:revision>
  <dcterms:created xsi:type="dcterms:W3CDTF">2026-05-01T04:05:15Z</dcterms:created>
  <dcterms:modified xsi:type="dcterms:W3CDTF">2026-05-08T19:50:37Z</dcterms:modified>
</cp:coreProperties>
</file>